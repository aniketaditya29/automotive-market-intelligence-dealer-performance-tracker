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27250" y="323700"/>
            <a:ext cx="8043000" cy="19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Automobile Sale</a:t>
            </a: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Performance &amp; </a:t>
            </a: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61615" y="2302216"/>
            <a:ext cx="640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By : Aniket Aditya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0269" y="3057302"/>
            <a:ext cx="1920300" cy="1188600"/>
          </a:xfrm>
          <a:prstGeom prst="rect">
            <a:avLst/>
          </a:prstGeom>
          <a:solidFill>
            <a:srgbClr val="2D6BD4">
              <a:alpha val="3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76707" y="3221785"/>
            <a:ext cx="1920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10,000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6661" y="3724567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519109" y="3057302"/>
            <a:ext cx="1920300" cy="1188600"/>
          </a:xfrm>
          <a:prstGeom prst="rect">
            <a:avLst/>
          </a:prstGeom>
          <a:solidFill>
            <a:srgbClr val="2D6BD4">
              <a:alpha val="3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517343" y="3241877"/>
            <a:ext cx="1920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519109" y="3724604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Dealers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667949" y="3057302"/>
            <a:ext cx="1920300" cy="1188600"/>
          </a:xfrm>
          <a:prstGeom prst="rect">
            <a:avLst/>
          </a:prstGeom>
          <a:solidFill>
            <a:srgbClr val="2D6BD4">
              <a:alpha val="3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667949" y="3231831"/>
            <a:ext cx="1920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₹424bn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667949" y="3724629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816789" y="3057302"/>
            <a:ext cx="1920300" cy="1188600"/>
          </a:xfrm>
          <a:prstGeom prst="rect">
            <a:avLst/>
          </a:prstGeom>
          <a:solidFill>
            <a:srgbClr val="2D6BD4">
              <a:alpha val="30196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818581" y="3221722"/>
            <a:ext cx="1920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Yrs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816814" y="3724654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2020–2025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068850" y="4589375"/>
            <a:ext cx="30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 ·  PostgreSQL  ·  Power BI  ·  Pandas  ·  Matplotlib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322490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 &amp; PROJECT OBJECTIVES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5750" y="1051550"/>
            <a:ext cx="8385000" cy="123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65760" y="1051560"/>
            <a:ext cx="109728" cy="123444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71560" y="1152081"/>
            <a:ext cx="8001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Indian automobile market underwent a significant structural shift between 2020 and 2025, driven by rising SUV demand, post-pandemic recovery, and accelerating EV adoption. Despite industry-wide growth, performance across dealers, regions, and vehicle segments remains highly uneven — with revenue declining in 2024–2025 despite stable unit volumes, and customer satisfaction showing no consistent relationship with sales performance.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2487168"/>
            <a:ext cx="199339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65760" y="2487168"/>
            <a:ext cx="1993392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65760" y="2532888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90950" y="3072350"/>
            <a:ext cx="1161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Revenue Trend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15000" y="3447225"/>
            <a:ext cx="1494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Identify where revenue is growing and where it is declining across 6 years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496312" y="2487168"/>
            <a:ext cx="199339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496312" y="2487168"/>
            <a:ext cx="1993392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496312" y="2532888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745562" y="3072350"/>
            <a:ext cx="1494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Dealer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745563" y="3378675"/>
            <a:ext cx="14949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Rank all 15 dealers and uncover what drives the performance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626864" y="2487168"/>
            <a:ext cx="199339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626864" y="2487168"/>
            <a:ext cx="1993392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626864" y="2532888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159714" y="3072350"/>
            <a:ext cx="101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 Adoption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876113" y="3447225"/>
            <a:ext cx="14949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Measure whether EV share is genuinely accelerating in this market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757416" y="2487168"/>
            <a:ext cx="1993392" cy="2331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757416" y="2487168"/>
            <a:ext cx="1993392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757416" y="2532888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152475" y="3072350"/>
            <a:ext cx="133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Market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006650" y="3492825"/>
            <a:ext cx="16410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Surface actionable insights for product, pricing, and regional investment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BUSINESS OVERVIEW  |  ALL YEARS 2020–2025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Performance Indicators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74320" y="1051560"/>
            <a:ext cx="1600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74320" y="1051560"/>
            <a:ext cx="1600200" cy="109728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74320" y="128016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₹424bn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47472" y="19933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47472" y="235915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6-year cumulative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011680" y="1051560"/>
            <a:ext cx="1600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2011680" y="1051560"/>
            <a:ext cx="1600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2011680" y="128016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249,903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084832" y="19933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Total Units Sold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084832" y="235915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Across all dealers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749040" y="1051560"/>
            <a:ext cx="1600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749040" y="1051560"/>
            <a:ext cx="160020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749040" y="128016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₹16.99L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822192" y="19933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Avg Unit Price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822192" y="235915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Mid-premium segment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86400" y="1051560"/>
            <a:ext cx="1600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486400" y="1051560"/>
            <a:ext cx="1600200" cy="1097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486400" y="128016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7.52/10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559552" y="19933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Avg Satisfaction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559552" y="235915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223760" y="1051560"/>
            <a:ext cx="160020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223760" y="1051560"/>
            <a:ext cx="160020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223760" y="128016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-5.55%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296912" y="199339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YoY Growth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296912" y="235915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Market-wide decline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74320" y="3154680"/>
            <a:ext cx="109728" cy="169164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02920" y="32186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BD4"/>
              </a:buClr>
              <a:buSzPts val="850"/>
              <a:buFont typeface="Calibri"/>
              <a:buNone/>
            </a:pPr>
            <a:r>
              <a:rPr b="1" i="0" lang="en-US" sz="1100" u="none" cap="none" strike="noStrike">
                <a:solidFill>
                  <a:srgbClr val="2D6BD4"/>
                </a:solidFill>
                <a:latin typeface="Calibri"/>
                <a:ea typeface="Calibri"/>
                <a:cs typeface="Calibri"/>
                <a:sym typeface="Calibri"/>
              </a:rPr>
              <a:t>KEY INSIGHT 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02950" y="3511324"/>
            <a:ext cx="8138100" cy="10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grew steadily from ₹68bn (2020) to a peak of ₹74bn (2023) before declining to ₹68bn in 2025 — returning to 2020 levels. Critically, unit volumes remained stable across all 6 years (39K–43K units), confirming the decline is driven by falling average selling prices, not reduced demand. This points to increased market competition and EV price corrections as the primary cause.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DEALER &amp; REGIONAL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is driving revenue — and where?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74320" y="1078992"/>
            <a:ext cx="2697480" cy="210312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74320" y="1078992"/>
            <a:ext cx="26974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74320" y="111556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Premium Tier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65760" y="15544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BYD Electric India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6576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Revenue: ₹47.2bn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65760" y="24688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Price: ₹27.64L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154680" y="1078992"/>
            <a:ext cx="2697480" cy="210312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154680" y="1078992"/>
            <a:ext cx="2697480" cy="347472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154680" y="111556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Mid-Range Tier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246120" y="15544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Kia · Nissan · MG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Jeep · Ford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24612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Revenue: ₹33–36bn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246120" y="24688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Price: ₹20–22L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035040" y="1078992"/>
            <a:ext cx="2697480" cy="210312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035040" y="1078992"/>
            <a:ext cx="269748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035040" y="111556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Budget Tier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26480" y="15544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Honda · Nexa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VW · Hyundai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12648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Revenue: ₹17–23bn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126480" y="24688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Price: ₹10–14L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74320" y="3364992"/>
            <a:ext cx="859536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274320" y="3364992"/>
            <a:ext cx="109728" cy="1508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02920" y="34290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5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REVENUE BY REGION — NEAR-EQUAL DISTRIBUTION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02920" y="3767328"/>
            <a:ext cx="1481328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02920" y="3822192"/>
            <a:ext cx="1481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20.97%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121408" y="3767328"/>
            <a:ext cx="1481328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121408" y="3822192"/>
            <a:ext cx="1481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Central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20.23%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739896" y="3767328"/>
            <a:ext cx="1481328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739896" y="3822192"/>
            <a:ext cx="1481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19.99%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358384" y="3767328"/>
            <a:ext cx="1481328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358384" y="3822192"/>
            <a:ext cx="1481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North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19.62%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976872" y="3767328"/>
            <a:ext cx="1481328" cy="8686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976872" y="3822192"/>
            <a:ext cx="14813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19.19%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MARKET COMPOSITION &amp; EV TREND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 dominance, fuel shift, and the EV reality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74320" y="1078992"/>
            <a:ext cx="2029968" cy="21488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274320" y="1078992"/>
            <a:ext cx="2029968" cy="9144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365760" y="12344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65760" y="1600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BD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D6BD4"/>
                </a:solidFill>
                <a:latin typeface="Calibri"/>
                <a:ea typeface="Calibri"/>
                <a:cs typeface="Calibri"/>
                <a:sym typeface="Calibri"/>
              </a:rPr>
              <a:t>65.79%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65760" y="2011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65760" y="226771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₹279.5bn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65760" y="251460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Avg: ₹21.14L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278892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6BD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D6BD4"/>
                </a:solidFill>
                <a:latin typeface="Calibri"/>
                <a:ea typeface="Calibri"/>
                <a:cs typeface="Calibri"/>
                <a:sym typeface="Calibri"/>
              </a:rPr>
              <a:t>Dominant revenue driver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441448" y="1078992"/>
            <a:ext cx="2029968" cy="21488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441448" y="1078992"/>
            <a:ext cx="2029968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532888" y="12344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Electric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532888" y="1600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11.10%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532888" y="2011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532888" y="226771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₹47.2bn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532888" y="251460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Avg: ₹27.64L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532888" y="278892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Highest revenue per unit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608576" y="1078992"/>
            <a:ext cx="2029968" cy="214884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608576" y="1078992"/>
            <a:ext cx="2029968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700016" y="12344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Sedan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700016" y="1600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13.78%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700016" y="2011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700016" y="226771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₹58.6bn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700016" y="251460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Avg: ₹13.45L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700016" y="278892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Mid-tier volume segment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775704" y="1078992"/>
            <a:ext cx="2029968" cy="2148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775704" y="1078992"/>
            <a:ext cx="2029968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867144" y="123444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Hatchback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867144" y="16002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9.33%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67144" y="2011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867144" y="2267712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₹39.6bn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867144" y="251460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Avg: ₹6.95L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867144" y="278892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Highest satisfaction, lowest rev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74345" y="3337555"/>
            <a:ext cx="8595300" cy="16917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274345" y="3337555"/>
            <a:ext cx="109800" cy="169170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02945" y="3483863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BD4"/>
              </a:buClr>
              <a:buSzPts val="850"/>
              <a:buFont typeface="Calibri"/>
              <a:buNone/>
            </a:pPr>
            <a:r>
              <a:rPr b="1" i="0" lang="en-US" sz="1100" u="none" cap="none" strike="noStrike">
                <a:solidFill>
                  <a:srgbClr val="2D6BD4"/>
                </a:solidFill>
                <a:latin typeface="Calibri"/>
                <a:ea typeface="Calibri"/>
                <a:cs typeface="Calibri"/>
                <a:sym typeface="Calibri"/>
              </a:rPr>
              <a:t>KEY INSIGHT 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02945" y="3840465"/>
            <a:ext cx="8275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Contrary to popular narrative, EV unit share remained flat between 8.95% and 10.51% from 2020 to 2025 — showing no meaningful acceleration. However EVs generate 11.10% of revenue from just 6.8% of units, driven entirely by BYD's premium pricing at ₹27–28L. The real fuel shift was Diesel-to-Petrol, not ICE-to-Electric. Petrol grew from 44.7% (2020) to 47.0% (2024) while Diesel declined.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KEY FINDINGS &amp; RECOMMENDATIONS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data says — and what to do about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74320" y="1051560"/>
            <a:ext cx="438912" cy="7132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274320" y="1216152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04672" y="110642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FINDING: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755648" y="1106424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declining despite stable volume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04672" y="1399032"/>
            <a:ext cx="7909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Audit pricing strategy across mid-range dealers — the decline is a price issue, not a demand issue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74320" y="1847088"/>
            <a:ext cx="8595360" cy="71323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274320" y="1847088"/>
            <a:ext cx="438912" cy="713232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274320" y="2011680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04672" y="190195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BD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D6BD4"/>
                </a:solidFill>
                <a:latin typeface="Calibri"/>
                <a:ea typeface="Calibri"/>
                <a:cs typeface="Calibri"/>
                <a:sym typeface="Calibri"/>
              </a:rPr>
              <a:t>FINDING: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755648" y="1901952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BYD dominates through pricing power, not volume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04672" y="2194560"/>
            <a:ext cx="7909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Expand premium EV product allocation — one premium unit generates ~4x the revenue of a hatchback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74320" y="2642616"/>
            <a:ext cx="8595360" cy="713232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274320" y="2642616"/>
            <a:ext cx="43891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274320" y="2807208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04672" y="269748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FINDING: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755648" y="2697480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 share flat at </a:t>
            </a: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approx.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10% for 6 consecutive years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04672" y="2990088"/>
            <a:ext cx="7909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Invest in EV dealer training and showroom experience — adoption is stalled at the sales level, not the demand level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74320" y="3438144"/>
            <a:ext cx="8595360" cy="713232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274320" y="3438144"/>
            <a:ext cx="438912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274320" y="3602736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804672" y="34930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FINDING: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755648" y="3493008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Satisfaction has zero correlation with revenue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04672" y="3785616"/>
            <a:ext cx="7909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Redirect customer experience budget toward pricing strategy and product mix optimisation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74320" y="4233672"/>
            <a:ext cx="8595360" cy="71323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274320" y="4233672"/>
            <a:ext cx="438912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274320" y="4398264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04672" y="428853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FINDING: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755648" y="4288536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March and Q1 consistently strongest period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04672" y="4581144"/>
            <a:ext cx="7909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 Front-load inventory and marketing spend in February to capitalise on the March fiscal year-end surge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METHODOLOGY, TOOLS &amp; 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this analysis was conducted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74320" y="1078992"/>
            <a:ext cx="202996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274320" y="1078992"/>
            <a:ext cx="2029968" cy="9144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65760" y="12344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65760" y="1737360"/>
            <a:ext cx="1874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cleaning, feature extraction, outlier detection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2441448" y="1078992"/>
            <a:ext cx="202996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2441448" y="1078992"/>
            <a:ext cx="2029968" cy="9144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2532888" y="12344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2532888" y="1737360"/>
            <a:ext cx="1874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business queries — trends, rankings, correlations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608576" y="1078992"/>
            <a:ext cx="202996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608576" y="1078992"/>
            <a:ext cx="2029968" cy="9144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700016" y="12344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700016" y="1737360"/>
            <a:ext cx="1874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charts — 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catter, heatmaps, trend lines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775704" y="1078992"/>
            <a:ext cx="202996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775704" y="1078992"/>
            <a:ext cx="2029968" cy="9144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6867144" y="123444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867144" y="1737360"/>
            <a:ext cx="1874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3-page interactive dashboard with DAX measures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74320" y="2651760"/>
            <a:ext cx="8595360" cy="2240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274320" y="2651760"/>
            <a:ext cx="109728" cy="2240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02920" y="27157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LIMITATIONS &amp;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02920" y="30449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satisfaction scores show near-zero variance across all dealers and categories (7.17–7.83 range) — suggesting either consistently good service or a data collection limitation that reduces analytical differentiation.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02920" y="3483864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data reflects gross sales only — no cost, margin, or profitability data available. Revenue leadership does not imply profit leadership.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02920" y="3922776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covers a specific dealer network — findings may not generalise to the broader Indian automobile market or direct-to-consumer channels.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02920" y="4361688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Year column already existed in the dataset and was re-extracted from Date for verification — both matched, confirming data integrity.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20040" y="640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2004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Automobile Sales Market Analysis — India 2020–2025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20040" y="2292965"/>
            <a:ext cx="1920300" cy="1097400"/>
          </a:xfrm>
          <a:prstGeom prst="rect">
            <a:avLst/>
          </a:prstGeom>
          <a:solidFill>
            <a:srgbClr val="2D6BD4">
              <a:alpha val="25098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20040" y="2366117"/>
            <a:ext cx="1920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20040" y="284160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SQL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2468880" y="2292965"/>
            <a:ext cx="1920300" cy="1097400"/>
          </a:xfrm>
          <a:prstGeom prst="rect">
            <a:avLst/>
          </a:prstGeom>
          <a:solidFill>
            <a:srgbClr val="2D6BD4">
              <a:alpha val="25098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2468880" y="2366117"/>
            <a:ext cx="1920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468880" y="284160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Python Charts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617720" y="2292965"/>
            <a:ext cx="1920300" cy="1097400"/>
          </a:xfrm>
          <a:prstGeom prst="rect">
            <a:avLst/>
          </a:prstGeom>
          <a:solidFill>
            <a:srgbClr val="2D6BD4">
              <a:alpha val="25098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4617720" y="2366117"/>
            <a:ext cx="1920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617720" y="284160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Dashboard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766560" y="2292965"/>
            <a:ext cx="1920300" cy="1097400"/>
          </a:xfrm>
          <a:prstGeom prst="rect">
            <a:avLst/>
          </a:prstGeom>
          <a:solidFill>
            <a:srgbClr val="2D6BD4">
              <a:alpha val="25098"/>
            </a:srgbClr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6766560" y="2366117"/>
            <a:ext cx="1920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766560" y="2841605"/>
            <a:ext cx="192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20040" y="4030727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Tools: Python  · SQL  ·  Power BI  ·  Pandas  ·  Matplotlib  ·  Seaborn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